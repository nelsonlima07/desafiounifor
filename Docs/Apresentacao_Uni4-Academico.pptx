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82" r:id="rId7"/>
    <p:sldId id="279" r:id="rId8"/>
    <p:sldId id="284" r:id="rId9"/>
    <p:sldId id="281" r:id="rId10"/>
    <p:sldId id="286" r:id="rId11"/>
    <p:sldId id="266" r:id="rId12"/>
    <p:sldId id="271" r:id="rId1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562"/>
    <a:srgbClr val="74736F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92" d="100"/>
          <a:sy n="92" d="100"/>
        </p:scale>
        <p:origin x="1314" y="306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72" y="1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6B70AA8A-C085-48CF-B584-751559E0BF1D}" type="datetime1">
              <a:rPr lang="pt-BR" smtClean="0"/>
              <a:t>04/12/2025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28EEFA9E-C190-4F5C-8394-BD5F1CD55C0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34B1AB0D-9516-44C6-B679-A2E9AAED135B}" type="datetime1">
              <a:rPr lang="pt-BR" smtClean="0"/>
              <a:pPr/>
              <a:t>04/12/2025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22289C57-55D7-40A4-A101-E74FAC7A09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B0348-C18B-E853-4CDE-CDB63B07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6C641BC-C141-736A-9B4D-C416801AE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30E1FB8-13BB-D72D-77EF-09CC29373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DD85194-0AD0-6D04-A66C-A1CDAF452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4441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2289C57-55D7-40A4-A101-E74FAC7A092B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pt-BR" sz="3600" spc="15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pt-BR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bra de seçã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pt-BR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bra de seçã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rtlCol="0" anchor="b">
            <a:noAutofit/>
          </a:bodyPr>
          <a:lstStyle>
            <a:lvl1pPr algn="l">
              <a:defRPr lang="pt-B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 rtlCol="0">
            <a:normAutofit/>
          </a:bodyPr>
          <a:lstStyle>
            <a:lvl1pPr marL="0" indent="0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bra de seçã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rtlCol="0" anchor="b">
            <a:noAutofit/>
          </a:bodyPr>
          <a:lstStyle>
            <a:lvl1pPr algn="l">
              <a:defRPr lang="pt-B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pic>
        <p:nvPicPr>
          <p:cNvPr id="4" name="Elemento gráfico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áfico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3" name="Espaço Reservado para Rodapé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4" name="Espaço Reservado para o Número do Slide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 rtlCol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lang="pt-BR"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pt-BR"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pt-BR"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pt-BR"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9" name="Espaço Reservado para Rodapé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20" name="Espaço Reservado para o Número do Slide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 rtlCol="0">
            <a:normAutofit/>
          </a:bodyPr>
          <a:lstStyle>
            <a:lvl1pPr marL="0" indent="0" algn="l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Espaço Reservado para Conteúdo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pt-BR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 para Tabela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tabela</a:t>
            </a:r>
            <a:endParaRPr lang="pt-BR" dirty="0"/>
          </a:p>
        </p:txBody>
      </p:sp>
      <p:sp>
        <p:nvSpPr>
          <p:cNvPr id="10" name="Espaço Reservado para Rodapé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1" name="Espaço Reservado para o Número do Slide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lvl1pPr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rtlCol="0" anchor="ctr">
            <a:no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pt-BR"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pt-BR"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pt-BR"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pt-BR"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rtlCol="0" anchor="ctr">
            <a:noAutofit/>
          </a:bodyPr>
          <a:lstStyle>
            <a:lvl1pPr marL="0" indent="0"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pt-BR" sz="2000" b="1"/>
            </a:lvl2pPr>
            <a:lvl3pPr marL="914400" indent="0">
              <a:buNone/>
              <a:defRPr lang="pt-BR" sz="1800" b="1"/>
            </a:lvl3pPr>
            <a:lvl4pPr marL="1371600" indent="0">
              <a:buNone/>
              <a:defRPr lang="pt-BR" sz="1600" b="1"/>
            </a:lvl4pPr>
            <a:lvl5pPr marL="1828800" indent="0">
              <a:buNone/>
              <a:defRPr lang="pt-BR" sz="1600" b="1"/>
            </a:lvl5pPr>
            <a:lvl6pPr marL="2286000" indent="0">
              <a:buNone/>
              <a:defRPr lang="pt-BR" sz="1600" b="1"/>
            </a:lvl6pPr>
            <a:lvl7pPr marL="2743200" indent="0">
              <a:buNone/>
              <a:defRPr lang="pt-BR" sz="1600" b="1"/>
            </a:lvl7pPr>
            <a:lvl8pPr marL="3200400" indent="0">
              <a:buNone/>
              <a:defRPr lang="pt-BR" sz="1600" b="1"/>
            </a:lvl8pPr>
            <a:lvl9pPr marL="3657600" indent="0">
              <a:buNone/>
              <a:defRPr lang="pt-BR" sz="1600" b="1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pt-B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t-BR" sz="1800" spc="50" baseline="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13" name="Elemento gráfico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rtlCol="0" anchor="b">
            <a:normAutofit/>
          </a:bodyPr>
          <a:lstStyle>
            <a:lvl1pPr algn="ctr">
              <a:defRPr lang="pt-B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 para Tabela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tabela</a:t>
            </a:r>
            <a:endParaRPr 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7" name="Espaço Reservado para o Número do Slide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pt-B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pt-BR"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 rtlCol="0"/>
          <a:lstStyle>
            <a:lvl1pPr algn="l">
              <a:defRPr lang="pt-BR" sz="900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pt-BR" sz="900"/>
            </a:lvl1pPr>
          </a:lstStyle>
          <a:p>
            <a:pPr rtl="0"/>
            <a:fld id="{A49DFD55-3C28-40EF-9E31-A92D2E4017F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9DFD55-3C28-40EF-9E31-A92D2E4017F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bdiagram.io/d/Uni4-academico-692c601ed6676488baf596c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dirty="0"/>
              <a:t>Sistema Uni4 </a:t>
            </a:r>
            <a:br>
              <a:rPr lang="pt-BR" dirty="0"/>
            </a:br>
            <a:r>
              <a:rPr lang="pt-BR" sz="2400" cap="none" dirty="0">
                <a:latin typeface="Aptos" panose="020B0004020202020204" pitchFamily="34" charset="0"/>
              </a:rPr>
              <a:t>Nelson Lima – Dez/2025</a:t>
            </a:r>
            <a:br>
              <a:rPr lang="pt-BR" sz="2400" cap="none" dirty="0">
                <a:latin typeface="Aptos" panose="020B0004020202020204" pitchFamily="34" charset="0"/>
              </a:rPr>
            </a:br>
            <a:endParaRPr lang="pt-BR" sz="2400" cap="none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Objetivos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Sistema para gestão acadêmica</a:t>
            </a:r>
          </a:p>
          <a:p>
            <a:pPr lvl="2"/>
            <a:r>
              <a:rPr lang="pt-BR" dirty="0"/>
              <a:t>Cadastro de gestão de Alunos e Professores</a:t>
            </a:r>
          </a:p>
          <a:p>
            <a:pPr lvl="2"/>
            <a:r>
              <a:rPr lang="pt-BR" dirty="0"/>
              <a:t>Acompanhamento das notas</a:t>
            </a:r>
          </a:p>
          <a:p>
            <a:pPr lvl="2"/>
            <a:r>
              <a:rPr lang="pt-BR" dirty="0"/>
              <a:t>Acompanhamento dos semestres</a:t>
            </a:r>
          </a:p>
        </p:txBody>
      </p:sp>
      <p:sp>
        <p:nvSpPr>
          <p:cNvPr id="14" name="Espaço Reservado para o Número do Slide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11" y="-688108"/>
            <a:ext cx="9953308" cy="178086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Decisões de Arquitetura / Tecnologia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11" y="1296320"/>
            <a:ext cx="4911670" cy="351284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Banco de dados / Controle de acesso</a:t>
            </a:r>
          </a:p>
        </p:txBody>
      </p:sp>
      <p:sp>
        <p:nvSpPr>
          <p:cNvPr id="36" name="Espaço Reservado para Conteúdo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41896" y="1620591"/>
            <a:ext cx="7129168" cy="769318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sz="1600" dirty="0"/>
              <a:t>Banco de dados relacional</a:t>
            </a:r>
            <a:br>
              <a:rPr lang="pt-BR" sz="1600" dirty="0"/>
            </a:br>
            <a:r>
              <a:rPr lang="pt-BR" sz="1600" dirty="0"/>
              <a:t>PostgreSQL 16.7 – Gratuito e robusto – Armazenar dados</a:t>
            </a:r>
            <a:br>
              <a:rPr lang="pt-BR" sz="1600" dirty="0"/>
            </a:br>
            <a:r>
              <a:rPr lang="pt-BR" sz="1600" dirty="0" err="1"/>
              <a:t>Keycloak</a:t>
            </a:r>
            <a:r>
              <a:rPr lang="pt-BR" sz="1600" dirty="0"/>
              <a:t> 26.4.6 – Legado - Gerenciador de acesso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A536BD54-EFA1-25A2-9F04-4F22C36E2A5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17204" y="2527584"/>
            <a:ext cx="5516880" cy="35128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 err="1"/>
              <a:t>Backend</a:t>
            </a:r>
            <a:endParaRPr lang="pt-BR" dirty="0"/>
          </a:p>
        </p:txBody>
      </p:sp>
      <p:sp>
        <p:nvSpPr>
          <p:cNvPr id="68" name="Espaço Reservado para o Número do Slide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3</a:t>
            </a:fld>
            <a:endParaRPr lang="pt-BR" dirty="0"/>
          </a:p>
        </p:txBody>
      </p:sp>
      <p:sp>
        <p:nvSpPr>
          <p:cNvPr id="3" name="Espaço Reservado para Conteúdo 35">
            <a:extLst>
              <a:ext uri="{FF2B5EF4-FFF2-40B4-BE49-F238E27FC236}">
                <a16:creationId xmlns:a16="http://schemas.microsoft.com/office/drawing/2014/main" id="{D115FBE3-CF43-81AC-20CB-872BDB70D533}"/>
              </a:ext>
            </a:extLst>
          </p:cNvPr>
          <p:cNvSpPr txBox="1">
            <a:spLocks/>
          </p:cNvSpPr>
          <p:nvPr/>
        </p:nvSpPr>
        <p:spPr>
          <a:xfrm>
            <a:off x="341894" y="2858087"/>
            <a:ext cx="6673793" cy="1610006"/>
          </a:xfrm>
          <a:prstGeom prst="rect">
            <a:avLst/>
          </a:prstGeom>
        </p:spPr>
        <p:txBody>
          <a:bodyPr vert="horz" lIns="91440" tIns="0" rIns="91440" bIns="45720" rtlCol="0">
            <a:normAutofit fontScale="92500"/>
          </a:bodyPr>
          <a:lstStyle>
            <a:defPPr>
              <a:defRPr lang="pt-BR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lang="pt-B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pt-BR" sz="1700" dirty="0"/>
              <a:t>Monolito modular</a:t>
            </a:r>
            <a:br>
              <a:rPr lang="pt-BR" sz="1700" dirty="0"/>
            </a:br>
            <a:r>
              <a:rPr lang="pt-BR" sz="1700" dirty="0"/>
              <a:t>Orientado a camada – Isolamento do erro, uniformidade funcional</a:t>
            </a:r>
            <a:br>
              <a:rPr lang="pt-BR" sz="1700" dirty="0"/>
            </a:br>
            <a:r>
              <a:rPr lang="pt-BR" sz="1700" dirty="0" err="1"/>
              <a:t>Quarkus</a:t>
            </a:r>
            <a:r>
              <a:rPr lang="pt-BR" sz="1700" dirty="0"/>
              <a:t> 3.30.2 – Otimizado, Flexível</a:t>
            </a:r>
            <a:br>
              <a:rPr lang="pt-BR" sz="1700" dirty="0"/>
            </a:br>
            <a:r>
              <a:rPr lang="pt-BR" sz="1700" dirty="0" err="1"/>
              <a:t>Panache</a:t>
            </a:r>
            <a:r>
              <a:rPr lang="pt-BR" sz="1700" dirty="0"/>
              <a:t> ORM – Simples e funcional</a:t>
            </a:r>
            <a:br>
              <a:rPr lang="pt-BR" sz="1700" dirty="0"/>
            </a:br>
            <a:r>
              <a:rPr lang="pt-BR" sz="1700" dirty="0"/>
              <a:t>Java 21 – Simples, estável, seguro</a:t>
            </a:r>
            <a:br>
              <a:rPr lang="pt-BR" sz="1700" dirty="0"/>
            </a:br>
            <a:r>
              <a:rPr lang="pt-BR" sz="1700" dirty="0" err="1"/>
              <a:t>Gradle</a:t>
            </a:r>
            <a:r>
              <a:rPr lang="pt-BR" sz="1700" dirty="0"/>
              <a:t> </a:t>
            </a:r>
            <a:r>
              <a:rPr lang="pt-BR" sz="1700" dirty="0" err="1"/>
              <a:t>Builder</a:t>
            </a:r>
            <a:r>
              <a:rPr lang="pt-BR" sz="1700" dirty="0"/>
              <a:t> – Integrado, simples, rápido</a:t>
            </a:r>
          </a:p>
          <a:p>
            <a:pPr marL="0" indent="0">
              <a:buFont typeface="+mj-lt"/>
              <a:buNone/>
            </a:pPr>
            <a:endParaRPr lang="pt-BR" dirty="0"/>
          </a:p>
        </p:txBody>
      </p:sp>
      <p:sp>
        <p:nvSpPr>
          <p:cNvPr id="4" name="Espaço Reservado para Texto 14">
            <a:extLst>
              <a:ext uri="{FF2B5EF4-FFF2-40B4-BE49-F238E27FC236}">
                <a16:creationId xmlns:a16="http://schemas.microsoft.com/office/drawing/2014/main" id="{AEB5FEBF-E71A-C8B9-0191-0290B3C9763C}"/>
              </a:ext>
            </a:extLst>
          </p:cNvPr>
          <p:cNvSpPr txBox="1">
            <a:spLocks/>
          </p:cNvSpPr>
          <p:nvPr/>
        </p:nvSpPr>
        <p:spPr>
          <a:xfrm>
            <a:off x="120221" y="4570261"/>
            <a:ext cx="5516880" cy="3512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/>
              <a:t>Frontend</a:t>
            </a:r>
            <a:endParaRPr lang="pt-BR" dirty="0"/>
          </a:p>
        </p:txBody>
      </p:sp>
      <p:sp>
        <p:nvSpPr>
          <p:cNvPr id="7" name="Espaço Reservado para Conteúdo 35">
            <a:extLst>
              <a:ext uri="{FF2B5EF4-FFF2-40B4-BE49-F238E27FC236}">
                <a16:creationId xmlns:a16="http://schemas.microsoft.com/office/drawing/2014/main" id="{6F8F1860-EA6E-BD83-6B4C-52F6363BE5B6}"/>
              </a:ext>
            </a:extLst>
          </p:cNvPr>
          <p:cNvSpPr txBox="1">
            <a:spLocks/>
          </p:cNvSpPr>
          <p:nvPr/>
        </p:nvSpPr>
        <p:spPr>
          <a:xfrm>
            <a:off x="217205" y="4921545"/>
            <a:ext cx="6890178" cy="1105182"/>
          </a:xfrm>
          <a:prstGeom prst="rect">
            <a:avLst/>
          </a:prstGeom>
        </p:spPr>
        <p:txBody>
          <a:bodyPr vert="horz" lIns="91440" tIns="0" rIns="91440" bIns="45720" rtlCol="0">
            <a:normAutofit fontScale="92500" lnSpcReduction="20000"/>
          </a:bodyPr>
          <a:lstStyle>
            <a:defPPr>
              <a:defRPr lang="pt-BR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lang="pt-B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700" dirty="0"/>
              <a:t>Pagina Única(SPA)</a:t>
            </a:r>
            <a:br>
              <a:rPr lang="pt-BR" sz="1700" dirty="0"/>
            </a:br>
            <a:r>
              <a:rPr lang="pt-BR" sz="1700" dirty="0"/>
              <a:t>a domínio – Clareza, coesão, baixo acoplamento  </a:t>
            </a:r>
            <a:br>
              <a:rPr lang="pt-BR" sz="1700" dirty="0"/>
            </a:br>
            <a:r>
              <a:rPr lang="pt-BR" sz="1700" dirty="0" err="1"/>
              <a:t>AngOrientadoular</a:t>
            </a:r>
            <a:r>
              <a:rPr lang="pt-BR" sz="1700" dirty="0"/>
              <a:t> 20 – Robusto, escalável</a:t>
            </a:r>
            <a:br>
              <a:rPr lang="pt-BR" sz="1700" dirty="0"/>
            </a:br>
            <a:r>
              <a:rPr lang="pt-BR" sz="1700" dirty="0" err="1"/>
              <a:t>PrimeNG</a:t>
            </a:r>
            <a:r>
              <a:rPr lang="pt-BR" sz="1700" dirty="0"/>
              <a:t> – Completo, dinâmico</a:t>
            </a:r>
            <a:br>
              <a:rPr lang="pt-BR" sz="1700" dirty="0"/>
            </a:br>
            <a:r>
              <a:rPr lang="pt-BR" sz="1700" dirty="0" err="1"/>
              <a:t>Template</a:t>
            </a:r>
            <a:r>
              <a:rPr lang="pt-BR" sz="1700" dirty="0"/>
              <a:t> </a:t>
            </a:r>
            <a:r>
              <a:rPr lang="pt-BR" sz="1700" dirty="0" err="1"/>
              <a:t>SakaiNG</a:t>
            </a:r>
            <a:r>
              <a:rPr lang="pt-BR" sz="1700" dirty="0"/>
              <a:t> – Gratuito, flexível</a:t>
            </a:r>
          </a:p>
          <a:p>
            <a:pPr marL="0" indent="0">
              <a:buFont typeface="+mj-lt"/>
              <a:buNone/>
            </a:pPr>
            <a:endParaRPr lang="pt-BR" dirty="0"/>
          </a:p>
        </p:txBody>
      </p:sp>
      <p:sp>
        <p:nvSpPr>
          <p:cNvPr id="8" name="Espaço Reservado para Texto 12">
            <a:extLst>
              <a:ext uri="{FF2B5EF4-FFF2-40B4-BE49-F238E27FC236}">
                <a16:creationId xmlns:a16="http://schemas.microsoft.com/office/drawing/2014/main" id="{B88F3801-46D0-DB0F-2844-59D55910E1E0}"/>
              </a:ext>
            </a:extLst>
          </p:cNvPr>
          <p:cNvSpPr txBox="1">
            <a:spLocks/>
          </p:cNvSpPr>
          <p:nvPr/>
        </p:nvSpPr>
        <p:spPr>
          <a:xfrm>
            <a:off x="7730402" y="4030262"/>
            <a:ext cx="3275828" cy="3512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Infra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CCCC8038-BC5A-5231-4E61-69E53A5BD62C}"/>
              </a:ext>
            </a:extLst>
          </p:cNvPr>
          <p:cNvSpPr txBox="1">
            <a:spLocks/>
          </p:cNvSpPr>
          <p:nvPr/>
        </p:nvSpPr>
        <p:spPr>
          <a:xfrm>
            <a:off x="7385238" y="1280270"/>
            <a:ext cx="3275828" cy="3512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Testes</a:t>
            </a:r>
          </a:p>
        </p:txBody>
      </p:sp>
      <p:sp>
        <p:nvSpPr>
          <p:cNvPr id="10" name="Espaço Reservado para Conteúdo 35">
            <a:extLst>
              <a:ext uri="{FF2B5EF4-FFF2-40B4-BE49-F238E27FC236}">
                <a16:creationId xmlns:a16="http://schemas.microsoft.com/office/drawing/2014/main" id="{0649F612-38CA-8155-820C-5EB454EDB100}"/>
              </a:ext>
            </a:extLst>
          </p:cNvPr>
          <p:cNvSpPr txBox="1">
            <a:spLocks/>
          </p:cNvSpPr>
          <p:nvPr/>
        </p:nvSpPr>
        <p:spPr>
          <a:xfrm>
            <a:off x="7471064" y="1543357"/>
            <a:ext cx="4379040" cy="245627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defPPr>
              <a:defRPr lang="pt-BR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lang="pt-B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pt-BR" b="1" dirty="0" err="1"/>
              <a:t>Quarkus</a:t>
            </a:r>
            <a:endParaRPr lang="pt-BR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pt-BR" dirty="0"/>
              <a:t>Unitário: Junit5 e </a:t>
            </a:r>
            <a:r>
              <a:rPr lang="pt-BR" dirty="0" err="1"/>
              <a:t>Mockito</a:t>
            </a:r>
            <a:endParaRPr lang="pt-BR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pt-BR" dirty="0"/>
              <a:t>Integração: </a:t>
            </a:r>
            <a:r>
              <a:rPr lang="pt-BR" dirty="0" err="1"/>
              <a:t>RestAssured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Angular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pt-BR" dirty="0"/>
              <a:t>Unitário: </a:t>
            </a:r>
            <a:r>
              <a:rPr lang="pt-BR" dirty="0" err="1"/>
              <a:t>Jest</a:t>
            </a:r>
            <a:endParaRPr lang="pt-BR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pt-BR" dirty="0" err="1"/>
              <a:t>Funcional:Cypress</a:t>
            </a:r>
            <a:endParaRPr lang="pt-BR" dirty="0"/>
          </a:p>
        </p:txBody>
      </p:sp>
      <p:sp>
        <p:nvSpPr>
          <p:cNvPr id="11" name="Espaço Reservado para Conteúdo 35">
            <a:extLst>
              <a:ext uri="{FF2B5EF4-FFF2-40B4-BE49-F238E27FC236}">
                <a16:creationId xmlns:a16="http://schemas.microsoft.com/office/drawing/2014/main" id="{357F4CCC-1315-FA14-7319-748D2CF06CA5}"/>
              </a:ext>
            </a:extLst>
          </p:cNvPr>
          <p:cNvSpPr txBox="1">
            <a:spLocks/>
          </p:cNvSpPr>
          <p:nvPr/>
        </p:nvSpPr>
        <p:spPr>
          <a:xfrm>
            <a:off x="7834277" y="4322132"/>
            <a:ext cx="3886668" cy="894104"/>
          </a:xfrm>
          <a:prstGeom prst="rect">
            <a:avLst/>
          </a:prstGeom>
        </p:spPr>
        <p:txBody>
          <a:bodyPr vert="horz" lIns="91440" tIns="0" rIns="91440" bIns="45720" rtlCol="0">
            <a:normAutofit fontScale="92500" lnSpcReduction="10000"/>
          </a:bodyPr>
          <a:lstStyle>
            <a:defPPr>
              <a:defRPr lang="pt-BR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lang="pt-B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Docker / </a:t>
            </a:r>
            <a:r>
              <a:rPr lang="pt-BR" dirty="0" err="1"/>
              <a:t>docker-compose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GitHub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3664" y="487680"/>
            <a:ext cx="5757256" cy="337669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Desenvolvimento</a:t>
            </a:r>
          </a:p>
        </p:txBody>
      </p:sp>
      <p:pic>
        <p:nvPicPr>
          <p:cNvPr id="16" name="Espaço Reservado para Imagem 15" descr="Uma pessoa se alongando em uma academia">
            <a:extLst>
              <a:ext uri="{FF2B5EF4-FFF2-40B4-BE49-F238E27FC236}">
                <a16:creationId xmlns:a16="http://schemas.microsoft.com/office/drawing/2014/main" id="{448EF356-1822-E2AE-2794-322870D4C2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4" r="44"/>
          <a:stretch/>
        </p:blipFill>
        <p:spPr>
          <a:xfrm>
            <a:off x="0" y="-5080"/>
            <a:ext cx="6576291" cy="6872605"/>
          </a:xfrm>
        </p:spPr>
      </p:pic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97589"/>
            <a:ext cx="5655197" cy="618772"/>
          </a:xfrm>
        </p:spPr>
        <p:txBody>
          <a:bodyPr rtlCol="0" anchor="b"/>
          <a:lstStyle>
            <a:defPPr>
              <a:defRPr lang="pt-BR"/>
            </a:defPPr>
          </a:lstStyle>
          <a:p>
            <a:pPr rtl="0"/>
            <a:r>
              <a:rPr lang="pt-BR" dirty="0"/>
              <a:t>Banco de dados - Diagrama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5</a:t>
            </a:fld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CC16F05-797A-79F3-88F9-B0B2C05DD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482435" y="6383082"/>
            <a:ext cx="8418380" cy="448989"/>
          </a:xfrm>
        </p:spPr>
        <p:txBody>
          <a:bodyPr/>
          <a:lstStyle/>
          <a:p>
            <a:r>
              <a:rPr lang="pt-BR" sz="1400" dirty="0">
                <a:hlinkClick r:id="rId3"/>
              </a:rPr>
              <a:t>https://dbdiagram.io/d/Uni4-academico-692c601ed6676488baf596c6</a:t>
            </a:r>
            <a:endParaRPr lang="pt-BR" sz="1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B1D139B-6176-99DF-C8D7-97EAF13D2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112" y="903526"/>
            <a:ext cx="7372363" cy="5452824"/>
          </a:xfrm>
          <a:prstGeom prst="rect">
            <a:avLst/>
          </a:prstGeom>
        </p:spPr>
      </p:pic>
      <p:sp>
        <p:nvSpPr>
          <p:cNvPr id="16" name="Espaço Reservado para Conteúdo 35">
            <a:extLst>
              <a:ext uri="{FF2B5EF4-FFF2-40B4-BE49-F238E27FC236}">
                <a16:creationId xmlns:a16="http://schemas.microsoft.com/office/drawing/2014/main" id="{D9EC9CD7-02F0-4BF7-89CF-5BDAB5A79E88}"/>
              </a:ext>
            </a:extLst>
          </p:cNvPr>
          <p:cNvSpPr txBox="1">
            <a:spLocks/>
          </p:cNvSpPr>
          <p:nvPr/>
        </p:nvSpPr>
        <p:spPr>
          <a:xfrm>
            <a:off x="67060" y="6496979"/>
            <a:ext cx="1595486" cy="28104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defPPr>
              <a:defRPr lang="pt-BR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lang="pt-B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400" b="1" dirty="0"/>
              <a:t>Diagrama online:</a:t>
            </a:r>
            <a:endParaRPr lang="pt-BR" sz="140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CEC181E-D158-87CD-5D91-B5D06704CD86}"/>
              </a:ext>
            </a:extLst>
          </p:cNvPr>
          <p:cNvSpPr/>
          <p:nvPr/>
        </p:nvSpPr>
        <p:spPr>
          <a:xfrm>
            <a:off x="4203974" y="990691"/>
            <a:ext cx="1397588" cy="5452824"/>
          </a:xfrm>
          <a:prstGeom prst="ellipse">
            <a:avLst/>
          </a:prstGeom>
          <a:noFill/>
          <a:ln>
            <a:solidFill>
              <a:srgbClr val="7473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spaço Reservado para Conteúdo 35">
            <a:extLst>
              <a:ext uri="{FF2B5EF4-FFF2-40B4-BE49-F238E27FC236}">
                <a16:creationId xmlns:a16="http://schemas.microsoft.com/office/drawing/2014/main" id="{EB496323-058A-7B10-7E07-D4C419F2FE69}"/>
              </a:ext>
            </a:extLst>
          </p:cNvPr>
          <p:cNvSpPr txBox="1">
            <a:spLocks/>
          </p:cNvSpPr>
          <p:nvPr/>
        </p:nvSpPr>
        <p:spPr>
          <a:xfrm>
            <a:off x="67059" y="930258"/>
            <a:ext cx="3445067" cy="3423533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defPPr>
              <a:defRPr lang="pt-BR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lang="pt-B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pt-B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400" b="1" dirty="0"/>
              <a:t>Atores: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Coordenador: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pt-BR" sz="1200" dirty="0" err="1"/>
              <a:t>Crud</a:t>
            </a:r>
            <a:r>
              <a:rPr lang="pt-BR" sz="1200" dirty="0"/>
              <a:t>(</a:t>
            </a:r>
            <a:r>
              <a:rPr lang="pt-BR" sz="1200" dirty="0" err="1"/>
              <a:t>Curso,Professor</a:t>
            </a:r>
            <a:r>
              <a:rPr lang="pt-BR" sz="1200" dirty="0"/>
              <a:t>, Aluno)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Gerencia semestre(Novo, Encerra)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Professor: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Lança notas e faltas por semestre para cada disciplina e aluno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Aluno: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Consome o conteúdo, acompanha as notas e falta por semestre por disciplina</a:t>
            </a:r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A39B94E5-560B-2038-DCEB-701DD71F6890}"/>
              </a:ext>
            </a:extLst>
          </p:cNvPr>
          <p:cNvCxnSpPr/>
          <p:nvPr/>
        </p:nvCxnSpPr>
        <p:spPr>
          <a:xfrm>
            <a:off x="1859973" y="930258"/>
            <a:ext cx="1433945" cy="212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36B2CBE1-567F-4C4D-AFA3-595C37833619}"/>
              </a:ext>
            </a:extLst>
          </p:cNvPr>
          <p:cNvCxnSpPr>
            <a:cxnSpLocks/>
          </p:cNvCxnSpPr>
          <p:nvPr/>
        </p:nvCxnSpPr>
        <p:spPr>
          <a:xfrm>
            <a:off x="1131779" y="1036629"/>
            <a:ext cx="3149276" cy="13428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56875" y="841691"/>
            <a:ext cx="3867151" cy="464498"/>
          </a:xfrm>
        </p:spPr>
        <p:txBody>
          <a:bodyPr rtlCol="0">
            <a:normAutofit lnSpcReduction="10000"/>
          </a:bodyPr>
          <a:lstStyle>
            <a:defPPr>
              <a:defRPr lang="pt-BR"/>
            </a:defPPr>
          </a:lstStyle>
          <a:p>
            <a:pPr rtl="0"/>
            <a:r>
              <a:rPr lang="pt-BR" sz="1500" dirty="0"/>
              <a:t>logs: </a:t>
            </a:r>
            <a:r>
              <a:rPr lang="pt-BR" sz="1500" b="0" dirty="0"/>
              <a:t>Últimos erros gerados pelas </a:t>
            </a:r>
            <a:r>
              <a:rPr lang="pt-BR" sz="1500" b="0" i="1" dirty="0" err="1"/>
              <a:t>exceptions</a:t>
            </a:r>
            <a:endParaRPr lang="pt-BR" sz="1500" b="0" i="1" dirty="0"/>
          </a:p>
          <a:p>
            <a:pPr rtl="0"/>
            <a:endParaRPr lang="pt-BR" b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6</a:t>
            </a:fld>
            <a:endParaRPr lang="pt-BR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7A4770E-9A0C-AA93-799C-7A810FEAAF1D}"/>
              </a:ext>
            </a:extLst>
          </p:cNvPr>
          <p:cNvSpPr txBox="1">
            <a:spLocks/>
          </p:cNvSpPr>
          <p:nvPr/>
        </p:nvSpPr>
        <p:spPr>
          <a:xfrm>
            <a:off x="5211929" y="-134167"/>
            <a:ext cx="5655197" cy="6187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err="1"/>
              <a:t>Backend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8DB24A8-59F0-CD17-59A7-42E415607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604" y="945755"/>
            <a:ext cx="2638059" cy="5912245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EDC02DE-0468-44E3-4C7C-0F257E5CB4D1}"/>
              </a:ext>
            </a:extLst>
          </p:cNvPr>
          <p:cNvCxnSpPr>
            <a:cxnSpLocks/>
          </p:cNvCxnSpPr>
          <p:nvPr/>
        </p:nvCxnSpPr>
        <p:spPr>
          <a:xfrm flipH="1">
            <a:off x="5340939" y="1200364"/>
            <a:ext cx="2815937" cy="1118387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1C988545-6AD7-62AD-5208-8AF4C3EA65B6}"/>
              </a:ext>
            </a:extLst>
          </p:cNvPr>
          <p:cNvCxnSpPr>
            <a:cxnSpLocks/>
          </p:cNvCxnSpPr>
          <p:nvPr/>
        </p:nvCxnSpPr>
        <p:spPr>
          <a:xfrm>
            <a:off x="3950795" y="2027645"/>
            <a:ext cx="1158068" cy="1456733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spaço Reservado para Texto 11">
            <a:extLst>
              <a:ext uri="{FF2B5EF4-FFF2-40B4-BE49-F238E27FC236}">
                <a16:creationId xmlns:a16="http://schemas.microsoft.com/office/drawing/2014/main" id="{23FD07AF-8C98-80CB-A124-A4F385DDE454}"/>
              </a:ext>
            </a:extLst>
          </p:cNvPr>
          <p:cNvSpPr txBox="1">
            <a:spLocks/>
          </p:cNvSpPr>
          <p:nvPr/>
        </p:nvSpPr>
        <p:spPr>
          <a:xfrm>
            <a:off x="2101549" y="1540785"/>
            <a:ext cx="2579054" cy="7594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cliente: </a:t>
            </a:r>
            <a:r>
              <a:rPr lang="pt-BR" sz="1400" b="0" dirty="0"/>
              <a:t>Clientes de outros serviços. </a:t>
            </a:r>
            <a:r>
              <a:rPr lang="pt-BR" sz="1400" b="0" dirty="0" err="1"/>
              <a:t>Ex</a:t>
            </a:r>
            <a:r>
              <a:rPr lang="pt-BR" sz="1400" b="0" dirty="0"/>
              <a:t>.:</a:t>
            </a:r>
            <a:r>
              <a:rPr lang="pt-BR" sz="1400" b="0" dirty="0" err="1"/>
              <a:t>Keycloak</a:t>
            </a:r>
            <a:endParaRPr lang="pt-BR" sz="1400" b="0" dirty="0"/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5E78FFF5-A25E-D51D-56A4-DED33DAF3716}"/>
              </a:ext>
            </a:extLst>
          </p:cNvPr>
          <p:cNvSpPr txBox="1">
            <a:spLocks/>
          </p:cNvSpPr>
          <p:nvPr/>
        </p:nvSpPr>
        <p:spPr>
          <a:xfrm>
            <a:off x="8439775" y="2300231"/>
            <a:ext cx="3752226" cy="4644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dto</a:t>
            </a:r>
            <a:r>
              <a:rPr lang="pt-BR" sz="1400" dirty="0"/>
              <a:t>: </a:t>
            </a:r>
            <a:r>
              <a:rPr lang="pt-BR" sz="1400" b="0" dirty="0"/>
              <a:t>Objetos de transferência</a:t>
            </a:r>
            <a:endParaRPr lang="pt-BR" sz="1400" b="0" i="1" dirty="0"/>
          </a:p>
          <a:p>
            <a:endParaRPr lang="pt-BR" b="0" dirty="0"/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7B9AF80E-3547-D48F-5079-32946CF18D2C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5623838" y="2532480"/>
            <a:ext cx="2815937" cy="1244811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56CC74F4-505D-1289-6658-90EBF442AA83}"/>
              </a:ext>
            </a:extLst>
          </p:cNvPr>
          <p:cNvSpPr txBox="1">
            <a:spLocks/>
          </p:cNvSpPr>
          <p:nvPr/>
        </p:nvSpPr>
        <p:spPr>
          <a:xfrm>
            <a:off x="7608676" y="3121815"/>
            <a:ext cx="3752226" cy="4644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entity</a:t>
            </a:r>
            <a:r>
              <a:rPr lang="pt-BR" sz="1400" dirty="0"/>
              <a:t>: </a:t>
            </a:r>
            <a:r>
              <a:rPr lang="pt-BR" sz="1400" b="0" dirty="0"/>
              <a:t>Entidade reflexo da estrutura da tabela do banco para persistência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1760795F-82FD-6863-3CBC-E4EDC11B22C6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5710152" y="3354064"/>
            <a:ext cx="1898524" cy="672629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ço Reservado para Texto 11">
            <a:extLst>
              <a:ext uri="{FF2B5EF4-FFF2-40B4-BE49-F238E27FC236}">
                <a16:creationId xmlns:a16="http://schemas.microsoft.com/office/drawing/2014/main" id="{26F18EB6-449B-5A08-E384-A489128970F3}"/>
              </a:ext>
            </a:extLst>
          </p:cNvPr>
          <p:cNvSpPr txBox="1">
            <a:spLocks/>
          </p:cNvSpPr>
          <p:nvPr/>
        </p:nvSpPr>
        <p:spPr>
          <a:xfrm>
            <a:off x="0" y="3777290"/>
            <a:ext cx="4229100" cy="308071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/>
              <a:t>exception</a:t>
            </a:r>
            <a:r>
              <a:rPr lang="pt-BR" dirty="0"/>
              <a:t>: </a:t>
            </a:r>
            <a:r>
              <a:rPr lang="pt-BR" b="0" dirty="0"/>
              <a:t>Controle de erros. Temos 4 Exceções: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/>
              <a:t>EntityNotFoundExceptionMapper</a:t>
            </a:r>
            <a:r>
              <a:rPr lang="pt-BR" sz="1400" b="0" dirty="0"/>
              <a:t>:</a:t>
            </a:r>
            <a:br>
              <a:rPr lang="pt-BR" sz="1400" b="0" dirty="0"/>
            </a:br>
            <a:r>
              <a:rPr lang="pt-BR" sz="1400" b="0" dirty="0"/>
              <a:t>E</a:t>
            </a:r>
            <a:r>
              <a:rPr lang="pt-BR" sz="1400" b="0" i="1" dirty="0"/>
              <a:t>rro na integridade dos dados e da lógica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/>
              <a:t>IllegalArgumentExceptionMapper</a:t>
            </a:r>
            <a:r>
              <a:rPr lang="pt-BR" sz="1400" dirty="0"/>
              <a:t>:</a:t>
            </a:r>
            <a:br>
              <a:rPr lang="pt-BR" sz="1400" dirty="0"/>
            </a:br>
            <a:r>
              <a:rPr lang="pt-BR" sz="1400" b="0" i="1" dirty="0"/>
              <a:t>Erro na qualidade do dado(</a:t>
            </a:r>
            <a:r>
              <a:rPr lang="pt-BR" sz="1400" b="0" i="1" dirty="0" err="1"/>
              <a:t>null</a:t>
            </a:r>
            <a:r>
              <a:rPr lang="pt-BR" sz="1400" b="0" i="1" dirty="0"/>
              <a:t>, overflow, maior, menor, tipo compatível)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/>
              <a:t>ServiceExceptionMapper</a:t>
            </a:r>
            <a:r>
              <a:rPr lang="pt-BR" sz="1400" dirty="0"/>
              <a:t> :</a:t>
            </a:r>
            <a:br>
              <a:rPr lang="pt-BR" sz="1400" dirty="0"/>
            </a:br>
            <a:r>
              <a:rPr lang="pt-BR" sz="1400" b="0" i="1" dirty="0"/>
              <a:t>Erro no consumo de serviço(API) externa(Ex. </a:t>
            </a:r>
            <a:r>
              <a:rPr lang="pt-BR" sz="1400" b="0" i="1" dirty="0" err="1"/>
              <a:t>Keycloak</a:t>
            </a:r>
            <a:r>
              <a:rPr lang="pt-BR" sz="1400" b="0" i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/>
              <a:t>GlobalExceptionMapper</a:t>
            </a:r>
            <a:r>
              <a:rPr lang="pt-BR" sz="1400" dirty="0"/>
              <a:t> :</a:t>
            </a:r>
            <a:br>
              <a:rPr lang="pt-BR" sz="1400" dirty="0"/>
            </a:br>
            <a:r>
              <a:rPr lang="pt-BR" sz="1400" b="0" i="1" dirty="0"/>
              <a:t>Erros globais, gerais não previstos por outras </a:t>
            </a:r>
            <a:r>
              <a:rPr lang="pt-BR" sz="1400" b="0" i="1" dirty="0" err="1"/>
              <a:t>exceptions</a:t>
            </a:r>
            <a:endParaRPr lang="pt-BR" sz="1400" b="0" i="1" dirty="0"/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A13E8971-07C3-A2DE-59A9-97A762CB4B29}"/>
              </a:ext>
            </a:extLst>
          </p:cNvPr>
          <p:cNvCxnSpPr>
            <a:cxnSpLocks/>
          </p:cNvCxnSpPr>
          <p:nvPr/>
        </p:nvCxnSpPr>
        <p:spPr>
          <a:xfrm>
            <a:off x="2792728" y="4114800"/>
            <a:ext cx="2316135" cy="129024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spaço Reservado para Texto 11">
            <a:extLst>
              <a:ext uri="{FF2B5EF4-FFF2-40B4-BE49-F238E27FC236}">
                <a16:creationId xmlns:a16="http://schemas.microsoft.com/office/drawing/2014/main" id="{F9BFF532-A931-1F75-2D8B-0341534AC512}"/>
              </a:ext>
            </a:extLst>
          </p:cNvPr>
          <p:cNvSpPr txBox="1">
            <a:spLocks/>
          </p:cNvSpPr>
          <p:nvPr/>
        </p:nvSpPr>
        <p:spPr>
          <a:xfrm>
            <a:off x="7608676" y="3653918"/>
            <a:ext cx="3752226" cy="4644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mapper</a:t>
            </a:r>
            <a:r>
              <a:rPr lang="pt-BR" sz="1400" dirty="0"/>
              <a:t>: </a:t>
            </a:r>
            <a:r>
              <a:rPr lang="pt-BR" sz="1400" b="0" dirty="0"/>
              <a:t>Conexão entre o DTO e a Entity. Faz a conversão</a:t>
            </a:r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5C8C29EE-14F6-D9B6-9727-045D15AAD8BE}"/>
              </a:ext>
            </a:extLst>
          </p:cNvPr>
          <p:cNvCxnSpPr>
            <a:cxnSpLocks/>
          </p:cNvCxnSpPr>
          <p:nvPr/>
        </p:nvCxnSpPr>
        <p:spPr>
          <a:xfrm flipH="1">
            <a:off x="5816485" y="3943399"/>
            <a:ext cx="1745776" cy="593431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spaço Reservado para Texto 11">
            <a:extLst>
              <a:ext uri="{FF2B5EF4-FFF2-40B4-BE49-F238E27FC236}">
                <a16:creationId xmlns:a16="http://schemas.microsoft.com/office/drawing/2014/main" id="{CE432FC5-B1C0-54E6-3601-25A4CCC15012}"/>
              </a:ext>
            </a:extLst>
          </p:cNvPr>
          <p:cNvSpPr txBox="1">
            <a:spLocks/>
          </p:cNvSpPr>
          <p:nvPr/>
        </p:nvSpPr>
        <p:spPr>
          <a:xfrm>
            <a:off x="7608676" y="4170491"/>
            <a:ext cx="3752226" cy="4644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repository</a:t>
            </a:r>
            <a:r>
              <a:rPr lang="pt-BR" sz="1400" dirty="0"/>
              <a:t>: </a:t>
            </a:r>
            <a:r>
              <a:rPr lang="pt-BR" sz="1400" b="0" dirty="0"/>
              <a:t>Isola a lógica da persistência. Conexão entre o serviço e dados</a:t>
            </a:r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50926485-C4EF-785F-7361-E5314981C6C1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6084309" y="4402740"/>
            <a:ext cx="1524367" cy="391737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spaço Reservado para Texto 11">
            <a:extLst>
              <a:ext uri="{FF2B5EF4-FFF2-40B4-BE49-F238E27FC236}">
                <a16:creationId xmlns:a16="http://schemas.microsoft.com/office/drawing/2014/main" id="{9EC88BE6-3874-07DB-3B3F-B2DF7C42C1C1}"/>
              </a:ext>
            </a:extLst>
          </p:cNvPr>
          <p:cNvSpPr txBox="1">
            <a:spLocks/>
          </p:cNvSpPr>
          <p:nvPr/>
        </p:nvSpPr>
        <p:spPr>
          <a:xfrm>
            <a:off x="7620367" y="4706025"/>
            <a:ext cx="3752226" cy="676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resource</a:t>
            </a:r>
            <a:r>
              <a:rPr lang="pt-BR" sz="1400" dirty="0"/>
              <a:t>: </a:t>
            </a:r>
            <a:r>
              <a:rPr lang="pt-BR" sz="1400" b="0" dirty="0"/>
              <a:t>Recursos que a API vai disponibilizar. A classe que controla os </a:t>
            </a:r>
            <a:r>
              <a:rPr lang="pt-BR" sz="1400" b="0" dirty="0" err="1"/>
              <a:t>endpoints</a:t>
            </a:r>
            <a:endParaRPr lang="pt-BR" sz="1400" b="0" dirty="0"/>
          </a:p>
        </p:txBody>
      </p: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F710581C-76B2-9162-A39B-7144908C3E32}"/>
              </a:ext>
            </a:extLst>
          </p:cNvPr>
          <p:cNvCxnSpPr>
            <a:cxnSpLocks/>
            <a:stCxn id="52" idx="1"/>
          </p:cNvCxnSpPr>
          <p:nvPr/>
        </p:nvCxnSpPr>
        <p:spPr>
          <a:xfrm flipH="1" flipV="1">
            <a:off x="5943600" y="5011036"/>
            <a:ext cx="1676767" cy="33222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spaço Reservado para Texto 11">
            <a:extLst>
              <a:ext uri="{FF2B5EF4-FFF2-40B4-BE49-F238E27FC236}">
                <a16:creationId xmlns:a16="http://schemas.microsoft.com/office/drawing/2014/main" id="{1C07E1B4-9038-1052-94DE-E4D5CBD82568}"/>
              </a:ext>
            </a:extLst>
          </p:cNvPr>
          <p:cNvSpPr txBox="1">
            <a:spLocks/>
          </p:cNvSpPr>
          <p:nvPr/>
        </p:nvSpPr>
        <p:spPr>
          <a:xfrm>
            <a:off x="7620367" y="5430103"/>
            <a:ext cx="3752226" cy="676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service</a:t>
            </a:r>
            <a:r>
              <a:rPr lang="pt-BR" sz="1400" dirty="0"/>
              <a:t>: </a:t>
            </a:r>
            <a:r>
              <a:rPr lang="pt-BR" sz="1400" b="0" dirty="0"/>
              <a:t>Camada lógica, orquestra as operações, garantir a que as regras sejam seguidas.</a:t>
            </a:r>
          </a:p>
        </p:txBody>
      </p: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EA6CD0E1-1AB6-D3E6-E951-AC3634E04152}"/>
              </a:ext>
            </a:extLst>
          </p:cNvPr>
          <p:cNvCxnSpPr>
            <a:cxnSpLocks/>
            <a:stCxn id="57" idx="1"/>
          </p:cNvCxnSpPr>
          <p:nvPr/>
        </p:nvCxnSpPr>
        <p:spPr>
          <a:xfrm flipH="1" flipV="1">
            <a:off x="5816485" y="5262390"/>
            <a:ext cx="1803882" cy="505946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6EB8C61A-F442-D488-3C02-E30B4260D5CF}"/>
              </a:ext>
            </a:extLst>
          </p:cNvPr>
          <p:cNvCxnSpPr>
            <a:cxnSpLocks/>
          </p:cNvCxnSpPr>
          <p:nvPr/>
        </p:nvCxnSpPr>
        <p:spPr>
          <a:xfrm flipH="1">
            <a:off x="5518628" y="6356349"/>
            <a:ext cx="2090048" cy="365125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spaço Reservado para Texto 11">
            <a:extLst>
              <a:ext uri="{FF2B5EF4-FFF2-40B4-BE49-F238E27FC236}">
                <a16:creationId xmlns:a16="http://schemas.microsoft.com/office/drawing/2014/main" id="{EB374656-F408-2CFC-BB7B-69A42AB2A54A}"/>
              </a:ext>
            </a:extLst>
          </p:cNvPr>
          <p:cNvSpPr txBox="1">
            <a:spLocks/>
          </p:cNvSpPr>
          <p:nvPr/>
        </p:nvSpPr>
        <p:spPr>
          <a:xfrm>
            <a:off x="7620367" y="6196562"/>
            <a:ext cx="2579054" cy="7594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test</a:t>
            </a:r>
            <a:r>
              <a:rPr lang="pt-BR" sz="1400" dirty="0"/>
              <a:t>: </a:t>
            </a:r>
            <a:r>
              <a:rPr lang="pt-BR" sz="1400" b="0" dirty="0"/>
              <a:t>Implementa os testes e garante a qualidade</a:t>
            </a:r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0AFEC-7CCD-7F77-CF53-A2BE09701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m 67">
            <a:extLst>
              <a:ext uri="{FF2B5EF4-FFF2-40B4-BE49-F238E27FC236}">
                <a16:creationId xmlns:a16="http://schemas.microsoft.com/office/drawing/2014/main" id="{4A3B0B10-D283-3C5D-064E-FB017B4D3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104" y="569841"/>
            <a:ext cx="3149479" cy="5682755"/>
          </a:xfrm>
          <a:prstGeom prst="rect">
            <a:avLst/>
          </a:prstGeom>
        </p:spPr>
      </p:pic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AD27034-F4FB-247B-BCC7-BA307A4BE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8964" y="657291"/>
            <a:ext cx="2280453" cy="155597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1500" dirty="0"/>
              <a:t>core: </a:t>
            </a:r>
            <a:r>
              <a:rPr lang="pt-BR" sz="1500" b="0" dirty="0"/>
              <a:t>Contém as subpastas que organizam a lógica da aplicação de serviços compartilhados; Dados gerais, cálculos, acessos e outros mais </a:t>
            </a:r>
            <a:endParaRPr lang="pt-BR" b="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39658AF-7005-88FD-A5E8-FB57816B09D3}"/>
              </a:ext>
            </a:extLst>
          </p:cNvPr>
          <p:cNvSpPr txBox="1">
            <a:spLocks/>
          </p:cNvSpPr>
          <p:nvPr/>
        </p:nvSpPr>
        <p:spPr>
          <a:xfrm>
            <a:off x="5211929" y="-134167"/>
            <a:ext cx="5655197" cy="6187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FRONTEND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0118B56-9AFF-70C6-52CA-8990BCD7E1E8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6307282" y="1473403"/>
            <a:ext cx="2036275" cy="1571133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6D82B56-F769-F1CD-4B57-EFD9272F2372}"/>
              </a:ext>
            </a:extLst>
          </p:cNvPr>
          <p:cNvCxnSpPr>
            <a:cxnSpLocks/>
          </p:cNvCxnSpPr>
          <p:nvPr/>
        </p:nvCxnSpPr>
        <p:spPr>
          <a:xfrm>
            <a:off x="4244686" y="1996876"/>
            <a:ext cx="784994" cy="1395230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spaço Reservado para Texto 11">
            <a:extLst>
              <a:ext uri="{FF2B5EF4-FFF2-40B4-BE49-F238E27FC236}">
                <a16:creationId xmlns:a16="http://schemas.microsoft.com/office/drawing/2014/main" id="{EB33F324-8618-3B3D-0803-0999AFE224B3}"/>
              </a:ext>
            </a:extLst>
          </p:cNvPr>
          <p:cNvSpPr txBox="1">
            <a:spLocks/>
          </p:cNvSpPr>
          <p:nvPr/>
        </p:nvSpPr>
        <p:spPr>
          <a:xfrm>
            <a:off x="8343557" y="1093680"/>
            <a:ext cx="2579054" cy="7594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components</a:t>
            </a:r>
            <a:r>
              <a:rPr lang="pt-BR" sz="1400" dirty="0"/>
              <a:t>: </a:t>
            </a:r>
            <a:r>
              <a:rPr lang="pt-BR" sz="1400" b="0" dirty="0"/>
              <a:t>Armazena os elementos de UI da aplicação para reutilização</a:t>
            </a:r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31565CA8-E934-266A-E131-2663CC28363F}"/>
              </a:ext>
            </a:extLst>
          </p:cNvPr>
          <p:cNvSpPr txBox="1">
            <a:spLocks/>
          </p:cNvSpPr>
          <p:nvPr/>
        </p:nvSpPr>
        <p:spPr>
          <a:xfrm>
            <a:off x="8261005" y="2113070"/>
            <a:ext cx="3752226" cy="46449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layout: </a:t>
            </a:r>
            <a:r>
              <a:rPr lang="pt-BR" sz="1400" b="0" dirty="0"/>
              <a:t>Estrutura geral da aplicação SPA. Esqueleto principal com cores e estilos</a:t>
            </a:r>
            <a:endParaRPr lang="pt-BR" b="0" dirty="0"/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E248E288-5EE7-71D6-F49C-4B62E338A80E}"/>
              </a:ext>
            </a:extLst>
          </p:cNvPr>
          <p:cNvCxnSpPr>
            <a:cxnSpLocks/>
          </p:cNvCxnSpPr>
          <p:nvPr/>
        </p:nvCxnSpPr>
        <p:spPr>
          <a:xfrm flipH="1">
            <a:off x="5808529" y="2492260"/>
            <a:ext cx="2473970" cy="1261966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F92A1D7A-7BCD-8261-54BB-FE0A93F8D820}"/>
              </a:ext>
            </a:extLst>
          </p:cNvPr>
          <p:cNvSpPr txBox="1">
            <a:spLocks/>
          </p:cNvSpPr>
          <p:nvPr/>
        </p:nvSpPr>
        <p:spPr>
          <a:xfrm>
            <a:off x="8239511" y="2631857"/>
            <a:ext cx="3752226" cy="7676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pages</a:t>
            </a:r>
            <a:r>
              <a:rPr lang="pt-BR" sz="1400" dirty="0"/>
              <a:t>: </a:t>
            </a:r>
            <a:r>
              <a:rPr lang="pt-BR" sz="1400" b="0" dirty="0"/>
              <a:t>Contêm as páginas do sistema </a:t>
            </a:r>
            <a:r>
              <a:rPr lang="pt-BR" sz="1400" b="0" dirty="0" err="1"/>
              <a:t>estrutra</a:t>
            </a:r>
            <a:r>
              <a:rPr lang="pt-BR" sz="1400" b="0" dirty="0"/>
              <a:t> Horizontal, Atores(Aluno, Professor, Coordenador) e Gerais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3B9BC720-C565-8C22-435A-440155579BDA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5762654" y="3015674"/>
            <a:ext cx="2476857" cy="975633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766BB67D-2738-0470-7916-FDAC60B340C7}"/>
              </a:ext>
            </a:extLst>
          </p:cNvPr>
          <p:cNvCxnSpPr>
            <a:cxnSpLocks/>
          </p:cNvCxnSpPr>
          <p:nvPr/>
        </p:nvCxnSpPr>
        <p:spPr>
          <a:xfrm>
            <a:off x="3367815" y="4015077"/>
            <a:ext cx="1763055" cy="1447903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spaço Reservado para Texto 11">
            <a:extLst>
              <a:ext uri="{FF2B5EF4-FFF2-40B4-BE49-F238E27FC236}">
                <a16:creationId xmlns:a16="http://schemas.microsoft.com/office/drawing/2014/main" id="{442CC93F-BFA4-7A88-FEAB-127DECB5F17E}"/>
              </a:ext>
            </a:extLst>
          </p:cNvPr>
          <p:cNvSpPr txBox="1">
            <a:spLocks/>
          </p:cNvSpPr>
          <p:nvPr/>
        </p:nvSpPr>
        <p:spPr>
          <a:xfrm>
            <a:off x="8177109" y="3427935"/>
            <a:ext cx="3752226" cy="4644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aluno: </a:t>
            </a:r>
            <a:r>
              <a:rPr lang="pt-BR" sz="1400" b="0" dirty="0"/>
              <a:t>Subdivisão da aplicação da perspectiva da interação com ator Aluno</a:t>
            </a:r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8AE9001A-84C8-A90B-17B4-7699B037A5C5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5882323" y="3660184"/>
            <a:ext cx="2294786" cy="656444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5F88BAA7-3E72-0105-4B31-7D5FE5E53540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854511" y="4175963"/>
            <a:ext cx="2322598" cy="442140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spaço Reservado para Texto 11">
            <a:extLst>
              <a:ext uri="{FF2B5EF4-FFF2-40B4-BE49-F238E27FC236}">
                <a16:creationId xmlns:a16="http://schemas.microsoft.com/office/drawing/2014/main" id="{CFB8730C-D470-D450-2682-2D7918899B69}"/>
              </a:ext>
            </a:extLst>
          </p:cNvPr>
          <p:cNvSpPr txBox="1">
            <a:spLocks/>
          </p:cNvSpPr>
          <p:nvPr/>
        </p:nvSpPr>
        <p:spPr>
          <a:xfrm>
            <a:off x="8177109" y="4357037"/>
            <a:ext cx="3752226" cy="676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coordenador: </a:t>
            </a:r>
            <a:r>
              <a:rPr lang="pt-BR" sz="1400" b="0" dirty="0"/>
              <a:t>Subdivisão da aplicação para as interações do Coordenador</a:t>
            </a:r>
          </a:p>
        </p:txBody>
      </p: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1EBED03F-D935-E37F-EDAC-45D70F12BD15}"/>
              </a:ext>
            </a:extLst>
          </p:cNvPr>
          <p:cNvCxnSpPr>
            <a:cxnSpLocks/>
            <a:stCxn id="52" idx="1"/>
          </p:cNvCxnSpPr>
          <p:nvPr/>
        </p:nvCxnSpPr>
        <p:spPr>
          <a:xfrm flipH="1">
            <a:off x="6505852" y="4695270"/>
            <a:ext cx="1671257" cy="221068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spaço Reservado para Texto 11">
            <a:extLst>
              <a:ext uri="{FF2B5EF4-FFF2-40B4-BE49-F238E27FC236}">
                <a16:creationId xmlns:a16="http://schemas.microsoft.com/office/drawing/2014/main" id="{A2DE1C03-7EC4-83AA-4F4B-03B164E951B9}"/>
              </a:ext>
            </a:extLst>
          </p:cNvPr>
          <p:cNvSpPr txBox="1">
            <a:spLocks/>
          </p:cNvSpPr>
          <p:nvPr/>
        </p:nvSpPr>
        <p:spPr>
          <a:xfrm>
            <a:off x="1314774" y="2658515"/>
            <a:ext cx="3266645" cy="676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home: </a:t>
            </a:r>
            <a:r>
              <a:rPr lang="pt-BR" sz="1400" b="0" dirty="0"/>
              <a:t>Página de entrada do sistema, ponto comum para redirecionamento</a:t>
            </a:r>
          </a:p>
        </p:txBody>
      </p: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F2FB9E02-45A4-549A-A0CA-616CA53CB222}"/>
              </a:ext>
            </a:extLst>
          </p:cNvPr>
          <p:cNvCxnSpPr>
            <a:cxnSpLocks/>
          </p:cNvCxnSpPr>
          <p:nvPr/>
        </p:nvCxnSpPr>
        <p:spPr>
          <a:xfrm>
            <a:off x="3120328" y="3205897"/>
            <a:ext cx="2035986" cy="1972720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8F03DA53-F749-6B22-CF58-EA960948DA7C}"/>
              </a:ext>
            </a:extLst>
          </p:cNvPr>
          <p:cNvCxnSpPr>
            <a:cxnSpLocks/>
          </p:cNvCxnSpPr>
          <p:nvPr/>
        </p:nvCxnSpPr>
        <p:spPr>
          <a:xfrm flipH="1">
            <a:off x="6132146" y="5281324"/>
            <a:ext cx="1907381" cy="519888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spaço Reservado para Texto 11">
            <a:extLst>
              <a:ext uri="{FF2B5EF4-FFF2-40B4-BE49-F238E27FC236}">
                <a16:creationId xmlns:a16="http://schemas.microsoft.com/office/drawing/2014/main" id="{85402D69-193B-6FA5-0845-34E8E605FB1B}"/>
              </a:ext>
            </a:extLst>
          </p:cNvPr>
          <p:cNvSpPr txBox="1">
            <a:spLocks/>
          </p:cNvSpPr>
          <p:nvPr/>
        </p:nvSpPr>
        <p:spPr>
          <a:xfrm>
            <a:off x="8131539" y="5462980"/>
            <a:ext cx="3570155" cy="6764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utils</a:t>
            </a:r>
            <a:r>
              <a:rPr lang="pt-BR" sz="1400" dirty="0"/>
              <a:t>: </a:t>
            </a:r>
            <a:r>
              <a:rPr lang="pt-BR" sz="1400" b="0" dirty="0" err="1"/>
              <a:t>Iarmazena</a:t>
            </a:r>
            <a:r>
              <a:rPr lang="pt-BR" sz="1400" b="0" dirty="0"/>
              <a:t> componentes no menu </a:t>
            </a:r>
            <a:r>
              <a:rPr lang="pt-BR" sz="1400" b="0" dirty="0" err="1"/>
              <a:t>Utils</a:t>
            </a:r>
            <a:r>
              <a:rPr lang="pt-BR" sz="1400" b="0" dirty="0"/>
              <a:t> da aplicação</a:t>
            </a:r>
          </a:p>
        </p:txBody>
      </p:sp>
      <p:sp>
        <p:nvSpPr>
          <p:cNvPr id="21" name="Espaço Reservado para Texto 11">
            <a:extLst>
              <a:ext uri="{FF2B5EF4-FFF2-40B4-BE49-F238E27FC236}">
                <a16:creationId xmlns:a16="http://schemas.microsoft.com/office/drawing/2014/main" id="{7F4F3D74-A667-B024-145A-88CBD0415878}"/>
              </a:ext>
            </a:extLst>
          </p:cNvPr>
          <p:cNvSpPr txBox="1">
            <a:spLocks/>
          </p:cNvSpPr>
          <p:nvPr/>
        </p:nvSpPr>
        <p:spPr>
          <a:xfrm>
            <a:off x="8177109" y="3943714"/>
            <a:ext cx="3752226" cy="4644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auth</a:t>
            </a:r>
            <a:r>
              <a:rPr lang="pt-BR" sz="1400" dirty="0"/>
              <a:t>: </a:t>
            </a:r>
            <a:r>
              <a:rPr lang="pt-BR" sz="1400" b="0" dirty="0"/>
              <a:t>Responsável pelo Login e </a:t>
            </a:r>
            <a:r>
              <a:rPr lang="pt-BR" sz="1400" b="0" dirty="0" err="1"/>
              <a:t>Guards</a:t>
            </a:r>
            <a:endParaRPr lang="pt-BR" sz="1400" b="0" dirty="0"/>
          </a:p>
        </p:txBody>
      </p:sp>
      <p:sp>
        <p:nvSpPr>
          <p:cNvPr id="35" name="Espaço Reservado para Texto 11">
            <a:extLst>
              <a:ext uri="{FF2B5EF4-FFF2-40B4-BE49-F238E27FC236}">
                <a16:creationId xmlns:a16="http://schemas.microsoft.com/office/drawing/2014/main" id="{204DD174-6FAF-EBAC-536A-A843CB0B0C4B}"/>
              </a:ext>
            </a:extLst>
          </p:cNvPr>
          <p:cNvSpPr txBox="1">
            <a:spLocks/>
          </p:cNvSpPr>
          <p:nvPr/>
        </p:nvSpPr>
        <p:spPr>
          <a:xfrm>
            <a:off x="231036" y="3676845"/>
            <a:ext cx="3497094" cy="676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notfound</a:t>
            </a:r>
            <a:r>
              <a:rPr lang="pt-BR" sz="1400" dirty="0"/>
              <a:t>: </a:t>
            </a:r>
            <a:r>
              <a:rPr lang="pt-BR" sz="1400" b="0" dirty="0"/>
              <a:t>Caso haja erro de rota, links não encontrados erro.</a:t>
            </a:r>
          </a:p>
        </p:txBody>
      </p:sp>
      <p:sp>
        <p:nvSpPr>
          <p:cNvPr id="42" name="Espaço Reservado para Texto 11">
            <a:extLst>
              <a:ext uri="{FF2B5EF4-FFF2-40B4-BE49-F238E27FC236}">
                <a16:creationId xmlns:a16="http://schemas.microsoft.com/office/drawing/2014/main" id="{7834D35E-95F8-6A46-71F7-D3F45020DFCC}"/>
              </a:ext>
            </a:extLst>
          </p:cNvPr>
          <p:cNvSpPr txBox="1">
            <a:spLocks/>
          </p:cNvSpPr>
          <p:nvPr/>
        </p:nvSpPr>
        <p:spPr>
          <a:xfrm>
            <a:off x="8177109" y="4943091"/>
            <a:ext cx="3752226" cy="676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professor: </a:t>
            </a:r>
            <a:r>
              <a:rPr lang="pt-BR" sz="1400" b="0" dirty="0"/>
              <a:t>Subdivisão da aplicação para as interações do Professor</a:t>
            </a:r>
          </a:p>
        </p:txBody>
      </p: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1B3F6C5F-100F-0160-82C4-A66153B9CA0E}"/>
              </a:ext>
            </a:extLst>
          </p:cNvPr>
          <p:cNvCxnSpPr>
            <a:cxnSpLocks/>
          </p:cNvCxnSpPr>
          <p:nvPr/>
        </p:nvCxnSpPr>
        <p:spPr>
          <a:xfrm flipH="1">
            <a:off x="5762654" y="5613912"/>
            <a:ext cx="2276873" cy="501619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Imagem 91">
            <a:extLst>
              <a:ext uri="{FF2B5EF4-FFF2-40B4-BE49-F238E27FC236}">
                <a16:creationId xmlns:a16="http://schemas.microsoft.com/office/drawing/2014/main" id="{94C7AB25-4182-27A8-A16E-47989230B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29" y="5285140"/>
            <a:ext cx="2676899" cy="685896"/>
          </a:xfrm>
          <a:prstGeom prst="rect">
            <a:avLst/>
          </a:prstGeom>
        </p:spPr>
      </p:pic>
      <p:sp>
        <p:nvSpPr>
          <p:cNvPr id="93" name="Espaço Reservado para Texto 11">
            <a:extLst>
              <a:ext uri="{FF2B5EF4-FFF2-40B4-BE49-F238E27FC236}">
                <a16:creationId xmlns:a16="http://schemas.microsoft.com/office/drawing/2014/main" id="{A06BC1FB-678B-C8FB-D177-EB41934EDB01}"/>
              </a:ext>
            </a:extLst>
          </p:cNvPr>
          <p:cNvSpPr txBox="1">
            <a:spLocks/>
          </p:cNvSpPr>
          <p:nvPr/>
        </p:nvSpPr>
        <p:spPr>
          <a:xfrm>
            <a:off x="61233" y="4564102"/>
            <a:ext cx="3497094" cy="676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assets</a:t>
            </a:r>
            <a:r>
              <a:rPr lang="pt-BR" sz="1400" dirty="0"/>
              <a:t>: </a:t>
            </a:r>
            <a:r>
              <a:rPr lang="pt-BR" sz="1400" b="0" dirty="0"/>
              <a:t>Arquivos estáticos necessários pra aparência da aplicação</a:t>
            </a:r>
          </a:p>
        </p:txBody>
      </p:sp>
      <p:sp>
        <p:nvSpPr>
          <p:cNvPr id="94" name="Espaço Reservado para Texto 11">
            <a:extLst>
              <a:ext uri="{FF2B5EF4-FFF2-40B4-BE49-F238E27FC236}">
                <a16:creationId xmlns:a16="http://schemas.microsoft.com/office/drawing/2014/main" id="{21C04004-9527-40C6-49E9-0E310C89375D}"/>
              </a:ext>
            </a:extLst>
          </p:cNvPr>
          <p:cNvSpPr txBox="1">
            <a:spLocks/>
          </p:cNvSpPr>
          <p:nvPr/>
        </p:nvSpPr>
        <p:spPr>
          <a:xfrm>
            <a:off x="61233" y="6123191"/>
            <a:ext cx="3497094" cy="676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environments</a:t>
            </a:r>
            <a:r>
              <a:rPr lang="pt-BR" sz="1400" dirty="0"/>
              <a:t>: </a:t>
            </a:r>
            <a:r>
              <a:rPr lang="pt-BR" sz="1400" b="0" dirty="0"/>
              <a:t>Armazena configurações de acordo com ambiente, produção, teste, virtual ou outro</a:t>
            </a:r>
          </a:p>
        </p:txBody>
      </p:sp>
      <p:cxnSp>
        <p:nvCxnSpPr>
          <p:cNvPr id="95" name="Conector de Seta Reta 94">
            <a:extLst>
              <a:ext uri="{FF2B5EF4-FFF2-40B4-BE49-F238E27FC236}">
                <a16:creationId xmlns:a16="http://schemas.microsoft.com/office/drawing/2014/main" id="{30E3B335-08D3-0D98-032F-CB9D5831B667}"/>
              </a:ext>
            </a:extLst>
          </p:cNvPr>
          <p:cNvCxnSpPr>
            <a:cxnSpLocks/>
          </p:cNvCxnSpPr>
          <p:nvPr/>
        </p:nvCxnSpPr>
        <p:spPr>
          <a:xfrm>
            <a:off x="490306" y="5013521"/>
            <a:ext cx="638523" cy="527747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de Seta Reta 97">
            <a:extLst>
              <a:ext uri="{FF2B5EF4-FFF2-40B4-BE49-F238E27FC236}">
                <a16:creationId xmlns:a16="http://schemas.microsoft.com/office/drawing/2014/main" id="{36C32EBD-B996-FB09-E0B9-FE6641232E32}"/>
              </a:ext>
            </a:extLst>
          </p:cNvPr>
          <p:cNvCxnSpPr>
            <a:cxnSpLocks/>
          </p:cNvCxnSpPr>
          <p:nvPr/>
        </p:nvCxnSpPr>
        <p:spPr>
          <a:xfrm flipV="1">
            <a:off x="454589" y="5822490"/>
            <a:ext cx="674240" cy="378219"/>
          </a:xfrm>
          <a:prstGeom prst="straightConnector1">
            <a:avLst/>
          </a:prstGeom>
          <a:ln>
            <a:solidFill>
              <a:srgbClr val="6665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169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273844"/>
            <a:ext cx="5884027" cy="1204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CONSIDERAÇÕES FINAIS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8</a:t>
            </a:fld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578416" y="1634546"/>
            <a:ext cx="5907176" cy="5086927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Desavio proposto foi baste interessante.</a:t>
            </a:r>
          </a:p>
          <a:p>
            <a:r>
              <a:rPr lang="pt-BR" dirty="0"/>
              <a:t>A combinação do Angular + </a:t>
            </a:r>
            <a:r>
              <a:rPr lang="pt-BR" dirty="0" err="1"/>
              <a:t>PrimeNG</a:t>
            </a:r>
            <a:r>
              <a:rPr lang="pt-BR" dirty="0"/>
              <a:t> com </a:t>
            </a:r>
            <a:r>
              <a:rPr lang="pt-BR" dirty="0" err="1"/>
              <a:t>Quarkus</a:t>
            </a:r>
            <a:r>
              <a:rPr lang="pt-BR" dirty="0"/>
              <a:t> + </a:t>
            </a:r>
            <a:r>
              <a:rPr lang="pt-BR" dirty="0" err="1"/>
              <a:t>Panache</a:t>
            </a:r>
            <a:r>
              <a:rPr lang="pt-BR" dirty="0"/>
              <a:t> + PostgreSQL são ferramentas bastantes robustas.</a:t>
            </a:r>
          </a:p>
          <a:p>
            <a:r>
              <a:rPr lang="pt-BR" dirty="0"/>
              <a:t>Não foi levado em consideração a completude de todas as funcionalidades. Foi focado na estruturação e organização(</a:t>
            </a:r>
            <a:r>
              <a:rPr lang="pt-BR" b="1" dirty="0" err="1"/>
              <a:t>Scaffolding</a:t>
            </a:r>
            <a:r>
              <a:rPr lang="pt-BR" dirty="0"/>
              <a:t>) do projeto.</a:t>
            </a:r>
          </a:p>
          <a:p>
            <a:r>
              <a:rPr lang="pt-BR" dirty="0"/>
              <a:t>Todos os elementos foram estourados de forma bem organizada, entregues no ponto para sequencia de um desenvolvimento profissional.</a:t>
            </a:r>
          </a:p>
          <a:p>
            <a:r>
              <a:rPr lang="pt-BR" dirty="0"/>
              <a:t>A integração com </a:t>
            </a:r>
            <a:r>
              <a:rPr lang="pt-BR" dirty="0" err="1"/>
              <a:t>Keycloak</a:t>
            </a:r>
            <a:r>
              <a:rPr lang="pt-BR" dirty="0"/>
              <a:t> foi um ponto desafiador, pois não tinha experiencia. </a:t>
            </a:r>
          </a:p>
          <a:p>
            <a:r>
              <a:rPr lang="pt-BR" dirty="0"/>
              <a:t>Link do projeto: https://github.com/NelsonLima07/DesafioUnifor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Espaço Reservado para Imagem 8" descr="Foto em preto e branco de computador&#10;&#10;O conteúdo gerado por IA pode estar incorreto.">
            <a:extLst>
              <a:ext uri="{FF2B5EF4-FFF2-40B4-BE49-F238E27FC236}">
                <a16:creationId xmlns:a16="http://schemas.microsoft.com/office/drawing/2014/main" id="{0E4E095B-E97C-6FFA-F70E-AB03BCB0B8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239" b="12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OBRIGADO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199" y="3238103"/>
            <a:ext cx="7443355" cy="2850181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Nelson Lima</a:t>
            </a:r>
            <a:br>
              <a:rPr lang="pt-BR" dirty="0"/>
            </a:br>
            <a:r>
              <a:rPr lang="pt-BR" dirty="0"/>
              <a:t>(85)99615-7534</a:t>
            </a:r>
            <a:br>
              <a:rPr lang="pt-BR" dirty="0"/>
            </a:br>
            <a:r>
              <a:rPr lang="pt-BR" dirty="0"/>
              <a:t>jnelsonlima3@gmail.com</a:t>
            </a:r>
          </a:p>
          <a:p>
            <a:r>
              <a:rPr lang="pt-BR" dirty="0"/>
              <a:t>https://www.linkedin.com/in/nelson-lima-6250a320/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A49DFD55-3C28-40EF-9E31-A92D2E4017FF}" type="slidenum">
              <a:rPr lang="pt-BR" smtClean="0"/>
              <a:pPr rtl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7034_TF67328976_Win32" id="{5D810135-0794-4857-8BF9-B0A0881FFA16}" vid="{643E305F-B6E6-4704-9213-E244374D846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{ED897D27-72C6-4E12-9B01-A775D418CA6D}TF7521aafa-c748-4c40-a498-ba511be234dc8ba37504_win32-b8966802d0be</Template>
  <TotalTime>422</TotalTime>
  <Words>709</Words>
  <Application>Microsoft Office PowerPoint</Application>
  <PresentationFormat>Widescreen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Tenorite</vt:lpstr>
      <vt:lpstr>Wingdings</vt:lpstr>
      <vt:lpstr>Tema do Office</vt:lpstr>
      <vt:lpstr>Sistema Uni4  Nelson Lima – Dez/2025 </vt:lpstr>
      <vt:lpstr>Objetivos</vt:lpstr>
      <vt:lpstr>Decisões de Arquitetura / Tecnologia</vt:lpstr>
      <vt:lpstr>Desenvolvimento</vt:lpstr>
      <vt:lpstr>Banco de dados - Diagrama</vt:lpstr>
      <vt:lpstr>Apresentação do PowerPoint</vt:lpstr>
      <vt:lpstr>Apresentação do PowerPoint</vt:lpstr>
      <vt:lpstr>CONSIDERAÇÕES FINAIS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Inova MS02</dc:creator>
  <cp:lastModifiedBy>Inova MS02</cp:lastModifiedBy>
  <cp:revision>6</cp:revision>
  <dcterms:created xsi:type="dcterms:W3CDTF">2025-12-04T11:51:34Z</dcterms:created>
  <dcterms:modified xsi:type="dcterms:W3CDTF">2025-12-04T18:53:59Z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